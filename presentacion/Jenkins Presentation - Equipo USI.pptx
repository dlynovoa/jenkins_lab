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us Jakarta Sans"/>
      <p:regular r:id="rId16"/>
      <p:bold r:id="rId17"/>
      <p:italic r:id="rId18"/>
      <p:boldItalic r:id="rId19"/>
    </p:embeddedFont>
    <p:embeddedFont>
      <p:font typeface="JetBrains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jiVCek353FEt94YmKJd3O0rftW+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regular.fntdata"/><Relationship Id="rId11" Type="http://schemas.openxmlformats.org/officeDocument/2006/relationships/slide" Target="slides/slide6.xml"/><Relationship Id="rId22" Type="http://schemas.openxmlformats.org/officeDocument/2006/relationships/font" Target="fonts/JetBrainsMono-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usJakartaSans-bold.fntdata"/><Relationship Id="rId16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lusJakartaSans-boldItalic.fntdata"/><Relationship Id="rId6" Type="http://schemas.openxmlformats.org/officeDocument/2006/relationships/slide" Target="slides/slide1.xml"/><Relationship Id="rId18" Type="http://schemas.openxmlformats.org/officeDocument/2006/relationships/font" Target="fonts/PlusJakarta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8.png"/><Relationship Id="rId7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09600" y="5686425"/>
            <a:ext cx="10972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609600" y="5686425"/>
            <a:ext cx="10972800" cy="9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09600" y="652462"/>
            <a:ext cx="2490900" cy="257100"/>
          </a:xfrm>
          <a:prstGeom prst="roundRect">
            <a:avLst>
              <a:gd fmla="val 22222" name="adj"/>
            </a:avLst>
          </a:prstGeom>
          <a:solidFill>
            <a:srgbClr val="0284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24468" y="533400"/>
            <a:ext cx="357931" cy="495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"/>
          <p:cNvSpPr txBox="1"/>
          <p:nvPr/>
        </p:nvSpPr>
        <p:spPr>
          <a:xfrm>
            <a:off x="609600" y="2447072"/>
            <a:ext cx="9301200" cy="14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Jenkins: Motor de Integración y Despliegue Continuo</a:t>
            </a:r>
            <a:endParaRPr sz="4300"/>
          </a:p>
        </p:txBody>
      </p:sp>
      <p:sp>
        <p:nvSpPr>
          <p:cNvPr id="89" name="Google Shape;89;p1"/>
          <p:cNvSpPr txBox="1"/>
          <p:nvPr/>
        </p:nvSpPr>
        <p:spPr>
          <a:xfrm>
            <a:off x="619125" y="3950852"/>
            <a:ext cx="109539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Automatización de construcción, pruebas e infraestructura para entregas continuas de software</a:t>
            </a:r>
            <a:endParaRPr sz="1600"/>
          </a:p>
        </p:txBody>
      </p:sp>
      <p:sp>
        <p:nvSpPr>
          <p:cNvPr id="90" name="Google Shape;90;p1"/>
          <p:cNvSpPr txBox="1"/>
          <p:nvPr/>
        </p:nvSpPr>
        <p:spPr>
          <a:xfrm>
            <a:off x="742950" y="709612"/>
            <a:ext cx="2319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 DE AUTOMATIZACIÓN</a:t>
            </a:r>
            <a:endParaRPr sz="1500"/>
          </a:p>
        </p:txBody>
      </p:sp>
      <p:sp>
        <p:nvSpPr>
          <p:cNvPr id="91" name="Google Shape;91;p1"/>
          <p:cNvSpPr txBox="1"/>
          <p:nvPr/>
        </p:nvSpPr>
        <p:spPr>
          <a:xfrm>
            <a:off x="3214687" y="704850"/>
            <a:ext cx="1200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 / CD Pipeline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09600" y="5924550"/>
            <a:ext cx="1323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PRESENTADO POR</a:t>
            </a:r>
            <a:endParaRPr sz="1500"/>
          </a:p>
        </p:txBody>
      </p:sp>
      <p:sp>
        <p:nvSpPr>
          <p:cNvPr id="93" name="Google Shape;93;p1"/>
          <p:cNvSpPr txBox="1"/>
          <p:nvPr/>
        </p:nvSpPr>
        <p:spPr>
          <a:xfrm>
            <a:off x="609600" y="6105525"/>
            <a:ext cx="13239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Equipo USI</a:t>
            </a:r>
            <a:endParaRPr sz="1600"/>
          </a:p>
        </p:txBody>
      </p:sp>
      <p:sp>
        <p:nvSpPr>
          <p:cNvPr id="94" name="Google Shape;94;p1"/>
          <p:cNvSpPr txBox="1"/>
          <p:nvPr/>
        </p:nvSpPr>
        <p:spPr>
          <a:xfrm>
            <a:off x="9367837" y="5934075"/>
            <a:ext cx="22146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ASIGNATURA</a:t>
            </a:r>
            <a:endParaRPr sz="1500"/>
          </a:p>
        </p:txBody>
      </p:sp>
      <p:sp>
        <p:nvSpPr>
          <p:cNvPr id="95" name="Google Shape;95;p1"/>
          <p:cNvSpPr txBox="1"/>
          <p:nvPr/>
        </p:nvSpPr>
        <p:spPr>
          <a:xfrm>
            <a:off x="9367837" y="6115050"/>
            <a:ext cx="2214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Despliegue de Software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609600" y="457200"/>
            <a:ext cx="109728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01. INTRODUCCIÓN</a:t>
            </a:r>
            <a:endParaRPr sz="1500"/>
          </a:p>
        </p:txBody>
      </p:sp>
      <p:sp>
        <p:nvSpPr>
          <p:cNvPr id="101" name="Google Shape;101;p2"/>
          <p:cNvSpPr txBox="1"/>
          <p:nvPr/>
        </p:nvSpPr>
        <p:spPr>
          <a:xfrm>
            <a:off x="609600" y="704850"/>
            <a:ext cx="109728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es Jenkins y qué problema resuelve?</a:t>
            </a:r>
            <a:endParaRPr sz="1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09650" y="1474325"/>
            <a:ext cx="5133900" cy="2252400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847775" y="1910815"/>
            <a:ext cx="4752900" cy="2309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Servidor de Automatización Open-Source</a:t>
            </a:r>
            <a:endParaRPr sz="1500"/>
          </a:p>
        </p:txBody>
      </p:sp>
      <p:sp>
        <p:nvSpPr>
          <p:cNvPr id="104" name="Google Shape;104;p2"/>
          <p:cNvSpPr txBox="1"/>
          <p:nvPr/>
        </p:nvSpPr>
        <p:spPr>
          <a:xfrm>
            <a:off x="847775" y="2452050"/>
            <a:ext cx="4657800" cy="11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Herramienta Open Source e extensible mediante plugins para orquestar la integración continua (CI) y entrega continua (CD).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09613" y="3981196"/>
            <a:ext cx="5133975" cy="2252376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847738" y="4417703"/>
            <a:ext cx="4752900" cy="230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Problema que Resuelve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47738" y="4958972"/>
            <a:ext cx="4752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Elimina ejecuciones manuales, inconsistencias de entorno y falta de trazabilidad en construcciones y despliegues.</a:t>
            </a:r>
            <a:endParaRPr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6071438" y="3981134"/>
            <a:ext cx="5133900" cy="2252513"/>
          </a:xfrm>
          <a:prstGeom prst="roundRect">
            <a:avLst>
              <a:gd fmla="val 9302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6309563" y="4417641"/>
            <a:ext cx="4752900" cy="2309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6670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Escenarios de Uso </a:t>
            </a:r>
            <a:endParaRPr b="1" sz="15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6309563" y="4958909"/>
            <a:ext cx="4752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Proyectos colaborativos con integración en Git/GitHub, flujos con contenedores Docker y despliegues multi-entorno. </a:t>
            </a:r>
            <a:endParaRPr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11" name="Google Shape;111;p2"/>
          <p:cNvGrpSpPr/>
          <p:nvPr/>
        </p:nvGrpSpPr>
        <p:grpSpPr>
          <a:xfrm>
            <a:off x="6071450" y="1474332"/>
            <a:ext cx="5133900" cy="2252390"/>
            <a:chOff x="609600" y="2571750"/>
            <a:chExt cx="5133900" cy="1228800"/>
          </a:xfrm>
        </p:grpSpPr>
        <p:sp>
          <p:nvSpPr>
            <p:cNvPr id="112" name="Google Shape;112;p2"/>
            <p:cNvSpPr/>
            <p:nvPr/>
          </p:nvSpPr>
          <p:spPr>
            <a:xfrm>
              <a:off x="609600" y="2571750"/>
              <a:ext cx="5133900" cy="1228800"/>
            </a:xfrm>
            <a:prstGeom prst="roundRect">
              <a:avLst>
                <a:gd fmla="val 930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 txBox="1"/>
            <p:nvPr/>
          </p:nvSpPr>
          <p:spPr>
            <a:xfrm>
              <a:off x="847725" y="2809875"/>
              <a:ext cx="4752900" cy="12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6670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Orquestación de CI/CD </a:t>
              </a:r>
              <a:endParaRPr sz="1500"/>
            </a:p>
          </p:txBody>
        </p:sp>
        <p:sp>
          <p:nvSpPr>
            <p:cNvPr id="114" name="Google Shape;114;p2"/>
            <p:cNvSpPr txBox="1"/>
            <p:nvPr/>
          </p:nvSpPr>
          <p:spPr>
            <a:xfrm>
              <a:off x="847725" y="3105150"/>
              <a:ext cx="4752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4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Coordina y ejecuta automáticamente las etapas de construcción, pruebas y despliegue de software. 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descr="image.png" id="115" name="Google Shape;1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7750" y="4428413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09575" y="4417640"/>
            <a:ext cx="230975" cy="23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0288" y="4450877"/>
            <a:ext cx="209550" cy="164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" name="Google Shape;118;p2"/>
          <p:cNvGrpSpPr/>
          <p:nvPr/>
        </p:nvGrpSpPr>
        <p:grpSpPr>
          <a:xfrm>
            <a:off x="837043" y="1910803"/>
            <a:ext cx="230977" cy="230977"/>
            <a:chOff x="923925" y="2905125"/>
            <a:chExt cx="457200" cy="457200"/>
          </a:xfrm>
        </p:grpSpPr>
        <p:pic>
          <p:nvPicPr>
            <p:cNvPr descr="image.png" id="119" name="Google Shape;119;p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23925" y="2905125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.png" id="120" name="Google Shape;120;p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019175" y="3028950"/>
              <a:ext cx="266700" cy="2095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image.png" id="121" name="Google Shape;12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9568" y="1910803"/>
            <a:ext cx="230977" cy="23097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6213674" y="1826200"/>
            <a:ext cx="39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⚙️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/>
        </p:nvSpPr>
        <p:spPr>
          <a:xfrm>
            <a:off x="609600" y="457200"/>
            <a:ext cx="11068200" cy="1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02. Clasificación</a:t>
            </a:r>
            <a:endParaRPr sz="1500"/>
          </a:p>
        </p:txBody>
      </p:sp>
      <p:sp>
        <p:nvSpPr>
          <p:cNvPr id="128" name="Google Shape;128;p3"/>
          <p:cNvSpPr txBox="1"/>
          <p:nvPr/>
        </p:nvSpPr>
        <p:spPr>
          <a:xfrm>
            <a:off x="609600" y="695325"/>
            <a:ext cx="1158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Rol de Jenkins en el Despliegue</a:t>
            </a:r>
            <a:endParaRPr sz="1600"/>
          </a:p>
        </p:txBody>
      </p:sp>
      <p:grpSp>
        <p:nvGrpSpPr>
          <p:cNvPr id="129" name="Google Shape;129;p3"/>
          <p:cNvGrpSpPr/>
          <p:nvPr/>
        </p:nvGrpSpPr>
        <p:grpSpPr>
          <a:xfrm>
            <a:off x="609600" y="5676900"/>
            <a:ext cx="10972800" cy="723900"/>
            <a:chOff x="609600" y="5676900"/>
            <a:chExt cx="10972800" cy="723900"/>
          </a:xfrm>
        </p:grpSpPr>
        <p:sp>
          <p:nvSpPr>
            <p:cNvPr id="130" name="Google Shape;130;p3"/>
            <p:cNvSpPr/>
            <p:nvPr/>
          </p:nvSpPr>
          <p:spPr>
            <a:xfrm>
              <a:off x="609600" y="5676900"/>
              <a:ext cx="10972800" cy="723900"/>
            </a:xfrm>
            <a:prstGeom prst="roundRect">
              <a:avLst>
                <a:gd fmla="val 13157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131" name="Google Shape;131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00100" y="5924550"/>
              <a:ext cx="22860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" name="Google Shape;132;p3"/>
            <p:cNvSpPr txBox="1"/>
            <p:nvPr/>
          </p:nvSpPr>
          <p:spPr>
            <a:xfrm>
              <a:off x="1181100" y="5867400"/>
              <a:ext cx="10306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5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Aclaración clave:</a:t>
              </a:r>
              <a:r>
                <a:rPr b="0" i="0" lang="en-US" sz="1050" u="none" cap="none" strike="noStrike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Jenkins no sustituye herramientas de build ni es un provisor primario de IaC. Coordina herramientas externas y puede configurarse mediante el plugin </a:t>
              </a:r>
              <a:r>
                <a:rPr b="1" i="0" lang="en-US" sz="1050" u="none" cap="none" strike="noStrike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JCasC (Jenkins Configuration as Code)</a:t>
              </a:r>
              <a:r>
                <a:rPr b="0" i="0" lang="en-US" sz="1050" u="none" cap="none" strike="noStrike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.</a:t>
              </a:r>
              <a:endParaRPr/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4384400" y="1409163"/>
            <a:ext cx="3169888" cy="1714283"/>
            <a:chOff x="6191250" y="2519362"/>
            <a:chExt cx="2600400" cy="1485900"/>
          </a:xfrm>
        </p:grpSpPr>
        <p:sp>
          <p:nvSpPr>
            <p:cNvPr id="134" name="Google Shape;134;p3"/>
            <p:cNvSpPr/>
            <p:nvPr/>
          </p:nvSpPr>
          <p:spPr>
            <a:xfrm>
              <a:off x="6191250" y="2519362"/>
              <a:ext cx="2600400" cy="1485900"/>
            </a:xfrm>
            <a:prstGeom prst="roundRect">
              <a:avLst>
                <a:gd fmla="val 7692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55725" lIns="111450" spcFirstLastPara="1" rIns="111450" wrap="square" tIns="55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6191250" y="2519362"/>
              <a:ext cx="38100" cy="1485900"/>
            </a:xfrm>
            <a:prstGeom prst="rect">
              <a:avLst/>
            </a:prstGeom>
            <a:solidFill>
              <a:srgbClr val="D97706"/>
            </a:solidFill>
            <a:ln>
              <a:noFill/>
            </a:ln>
          </p:spPr>
          <p:txBody>
            <a:bodyPr anchorCtr="0" anchor="ctr" bIns="55725" lIns="111450" spcFirstLastPara="1" rIns="111450" wrap="square" tIns="55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3"/>
            <p:cNvSpPr txBox="1"/>
            <p:nvPr/>
          </p:nvSpPr>
          <p:spPr>
            <a:xfrm>
              <a:off x="6457950" y="2747962"/>
              <a:ext cx="2310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46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Entrega / Despliegue (CD)</a:t>
              </a:r>
              <a:endParaRPr sz="1707"/>
            </a:p>
          </p:txBody>
        </p:sp>
        <p:sp>
          <p:nvSpPr>
            <p:cNvPr id="137" name="Google Shape;137;p3"/>
            <p:cNvSpPr txBox="1"/>
            <p:nvPr/>
          </p:nvSpPr>
          <p:spPr>
            <a:xfrm>
              <a:off x="6457950" y="3262312"/>
              <a:ext cx="22002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80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Orquesta la publicación de artefactos en entornos de staging o producción.</a:t>
              </a:r>
              <a:endParaRPr sz="1707"/>
            </a:p>
          </p:txBody>
        </p:sp>
      </p:grpSp>
      <p:grpSp>
        <p:nvGrpSpPr>
          <p:cNvPr id="138" name="Google Shape;138;p3"/>
          <p:cNvGrpSpPr/>
          <p:nvPr/>
        </p:nvGrpSpPr>
        <p:grpSpPr>
          <a:xfrm>
            <a:off x="7998802" y="3456310"/>
            <a:ext cx="3518861" cy="1714369"/>
            <a:chOff x="8982075" y="2628900"/>
            <a:chExt cx="2600400" cy="1266900"/>
          </a:xfrm>
        </p:grpSpPr>
        <p:sp>
          <p:nvSpPr>
            <p:cNvPr id="139" name="Google Shape;139;p3"/>
            <p:cNvSpPr/>
            <p:nvPr/>
          </p:nvSpPr>
          <p:spPr>
            <a:xfrm>
              <a:off x="8982075" y="2628900"/>
              <a:ext cx="2600400" cy="1266900"/>
            </a:xfrm>
            <a:prstGeom prst="roundRect">
              <a:avLst>
                <a:gd fmla="val 9022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61825" lIns="123725" spcFirstLastPara="1" rIns="123725" wrap="square" tIns="61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8982075" y="2628900"/>
              <a:ext cx="38100" cy="1266900"/>
            </a:xfrm>
            <a:prstGeom prst="rect">
              <a:avLst/>
            </a:prstGeom>
            <a:solidFill>
              <a:srgbClr val="9333EA"/>
            </a:solidFill>
            <a:ln>
              <a:noFill/>
            </a:ln>
          </p:spPr>
          <p:txBody>
            <a:bodyPr anchorCtr="0" anchor="ctr" bIns="61825" lIns="123725" spcFirstLastPara="1" rIns="123725" wrap="square" tIns="618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36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3"/>
            <p:cNvSpPr txBox="1"/>
            <p:nvPr/>
          </p:nvSpPr>
          <p:spPr>
            <a:xfrm>
              <a:off x="9248775" y="2857500"/>
              <a:ext cx="2200200" cy="20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27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Orquestador</a:t>
              </a:r>
              <a:endParaRPr sz="1894"/>
            </a:p>
          </p:txBody>
        </p:sp>
        <p:sp>
          <p:nvSpPr>
            <p:cNvPr id="142" name="Google Shape;142;p3"/>
            <p:cNvSpPr txBox="1"/>
            <p:nvPr/>
          </p:nvSpPr>
          <p:spPr>
            <a:xfrm>
              <a:off x="9248775" y="3152775"/>
              <a:ext cx="2200200" cy="48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421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Coordina compiladores (Maven/npm), contenedores (Docker) y servicios cloud.</a:t>
              </a:r>
              <a:endParaRPr sz="1894"/>
            </a:p>
          </p:txBody>
        </p:sp>
      </p:grpSp>
      <p:grpSp>
        <p:nvGrpSpPr>
          <p:cNvPr id="143" name="Google Shape;143;p3"/>
          <p:cNvGrpSpPr/>
          <p:nvPr/>
        </p:nvGrpSpPr>
        <p:grpSpPr>
          <a:xfrm>
            <a:off x="4384350" y="3456288"/>
            <a:ext cx="3169888" cy="1714283"/>
            <a:chOff x="6191250" y="2519362"/>
            <a:chExt cx="2600400" cy="1485900"/>
          </a:xfrm>
        </p:grpSpPr>
        <p:sp>
          <p:nvSpPr>
            <p:cNvPr id="144" name="Google Shape;144;p3"/>
            <p:cNvSpPr/>
            <p:nvPr/>
          </p:nvSpPr>
          <p:spPr>
            <a:xfrm>
              <a:off x="6191250" y="2519362"/>
              <a:ext cx="2600400" cy="1485900"/>
            </a:xfrm>
            <a:prstGeom prst="roundRect">
              <a:avLst>
                <a:gd fmla="val 7692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55725" lIns="111450" spcFirstLastPara="1" rIns="111450" wrap="square" tIns="55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6191250" y="2519362"/>
              <a:ext cx="38100" cy="1485900"/>
            </a:xfrm>
            <a:prstGeom prst="rect">
              <a:avLst/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55725" lIns="111450" spcFirstLastPara="1" rIns="111450" wrap="square" tIns="557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19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3"/>
            <p:cNvSpPr txBox="1"/>
            <p:nvPr/>
          </p:nvSpPr>
          <p:spPr>
            <a:xfrm>
              <a:off x="6457950" y="2747962"/>
              <a:ext cx="2310300" cy="22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7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Integración Continua (CI)</a:t>
              </a:r>
              <a:endParaRPr b="1" sz="1646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147" name="Google Shape;147;p3"/>
            <p:cNvSpPr txBox="1"/>
            <p:nvPr/>
          </p:nvSpPr>
          <p:spPr>
            <a:xfrm>
              <a:off x="6457950" y="3262312"/>
              <a:ext cx="2200200" cy="52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2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Compila código y valida pruebas tras cada push al repositorio.</a:t>
              </a:r>
              <a:endParaRPr sz="1770">
                <a:solidFill>
                  <a:srgbClr val="000000"/>
                </a:solidFill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8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grpSp>
        <p:nvGrpSpPr>
          <p:cNvPr id="148" name="Google Shape;148;p3"/>
          <p:cNvGrpSpPr/>
          <p:nvPr/>
        </p:nvGrpSpPr>
        <p:grpSpPr>
          <a:xfrm>
            <a:off x="770929" y="1433385"/>
            <a:ext cx="3169911" cy="1714230"/>
            <a:chOff x="609604" y="1363119"/>
            <a:chExt cx="3504600" cy="2206500"/>
          </a:xfrm>
        </p:grpSpPr>
        <p:sp>
          <p:nvSpPr>
            <p:cNvPr id="149" name="Google Shape;149;p3"/>
            <p:cNvSpPr/>
            <p:nvPr/>
          </p:nvSpPr>
          <p:spPr>
            <a:xfrm>
              <a:off x="609604" y="1363119"/>
              <a:ext cx="3504600" cy="2206500"/>
            </a:xfrm>
            <a:prstGeom prst="roundRect">
              <a:avLst>
                <a:gd fmla="val 9022" name="adj"/>
              </a:avLst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59325" lIns="118675" spcFirstLastPara="1" rIns="118675" wrap="square" tIns="59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609604" y="1363119"/>
              <a:ext cx="51300" cy="2206500"/>
            </a:xfrm>
            <a:prstGeom prst="rect">
              <a:avLst/>
            </a:prstGeom>
            <a:solidFill>
              <a:srgbClr val="0284C7"/>
            </a:solidFill>
            <a:ln>
              <a:noFill/>
            </a:ln>
          </p:spPr>
          <p:txBody>
            <a:bodyPr anchorCtr="0" anchor="ctr" bIns="59325" lIns="118675" spcFirstLastPara="1" rIns="118675" wrap="square" tIns="5932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337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3"/>
            <p:cNvSpPr txBox="1"/>
            <p:nvPr/>
          </p:nvSpPr>
          <p:spPr>
            <a:xfrm>
              <a:off x="969027" y="1761274"/>
              <a:ext cx="29652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53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Automatización</a:t>
              </a:r>
              <a:endParaRPr sz="1818"/>
            </a:p>
          </p:txBody>
        </p:sp>
        <p:sp>
          <p:nvSpPr>
            <p:cNvPr id="152" name="Google Shape;152;p3"/>
            <p:cNvSpPr txBox="1"/>
            <p:nvPr/>
          </p:nvSpPr>
          <p:spPr>
            <a:xfrm>
              <a:off x="969035" y="2365235"/>
              <a:ext cx="2965200" cy="8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363" u="none" cap="none" strike="noStrike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Categoría principal. Ejecución sistemática de tareas repetitivas de software.</a:t>
              </a:r>
              <a:endParaRPr sz="1818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/>
          <p:nvPr/>
        </p:nvSpPr>
        <p:spPr>
          <a:xfrm>
            <a:off x="11572875" y="2185987"/>
            <a:ext cx="9525" cy="1038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11572875" y="3376612"/>
            <a:ext cx="9525" cy="1038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11572875" y="4567237"/>
            <a:ext cx="9525" cy="10382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60" name="Google Shape;16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085975"/>
            <a:ext cx="5984050" cy="36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03. ARQUITECTURA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Distribuido Controller–Agent</a:t>
            </a:r>
            <a:endParaRPr b="1" sz="2400">
              <a:solidFill>
                <a:srgbClr val="0F172A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grpSp>
        <p:nvGrpSpPr>
          <p:cNvPr id="163" name="Google Shape;163;p4"/>
          <p:cNvGrpSpPr/>
          <p:nvPr/>
        </p:nvGrpSpPr>
        <p:grpSpPr>
          <a:xfrm>
            <a:off x="6823375" y="1357300"/>
            <a:ext cx="5076900" cy="1122000"/>
            <a:chOff x="609600" y="2200275"/>
            <a:chExt cx="5076900" cy="1122000"/>
          </a:xfrm>
        </p:grpSpPr>
        <p:sp>
          <p:nvSpPr>
            <p:cNvPr id="164" name="Google Shape;164;p4"/>
            <p:cNvSpPr/>
            <p:nvPr/>
          </p:nvSpPr>
          <p:spPr>
            <a:xfrm>
              <a:off x="609600" y="2200275"/>
              <a:ext cx="5076900" cy="1122000"/>
            </a:xfrm>
            <a:prstGeom prst="roundRect">
              <a:avLst>
                <a:gd fmla="val 970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165" name="Google Shape;165;p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09625" y="2396850"/>
              <a:ext cx="15240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4"/>
            <p:cNvSpPr txBox="1"/>
            <p:nvPr/>
          </p:nvSpPr>
          <p:spPr>
            <a:xfrm>
              <a:off x="809625" y="2365350"/>
              <a:ext cx="465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Jenkins Controller (Nodo Central) </a:t>
              </a:r>
              <a:endParaRPr/>
            </a:p>
          </p:txBody>
        </p:sp>
        <p:sp>
          <p:nvSpPr>
            <p:cNvPr id="167" name="Google Shape;167;p4"/>
            <p:cNvSpPr txBox="1"/>
            <p:nvPr/>
          </p:nvSpPr>
          <p:spPr>
            <a:xfrm>
              <a:off x="809625" y="2638425"/>
              <a:ext cx="47721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Administra la interfaz web, programa tareas, gestiona plugins y almacena credenciales sin ejecutar construcciones pesadas. </a:t>
              </a:r>
              <a:endParaRPr sz="1300"/>
            </a:p>
          </p:txBody>
        </p:sp>
      </p:grpSp>
      <p:grpSp>
        <p:nvGrpSpPr>
          <p:cNvPr id="168" name="Google Shape;168;p4"/>
          <p:cNvGrpSpPr/>
          <p:nvPr/>
        </p:nvGrpSpPr>
        <p:grpSpPr>
          <a:xfrm>
            <a:off x="6823375" y="2692850"/>
            <a:ext cx="5076900" cy="1122000"/>
            <a:chOff x="609600" y="3333750"/>
            <a:chExt cx="5076900" cy="1122000"/>
          </a:xfrm>
        </p:grpSpPr>
        <p:sp>
          <p:nvSpPr>
            <p:cNvPr id="169" name="Google Shape;169;p4"/>
            <p:cNvSpPr/>
            <p:nvPr/>
          </p:nvSpPr>
          <p:spPr>
            <a:xfrm>
              <a:off x="609600" y="3333750"/>
              <a:ext cx="5076900" cy="1122000"/>
            </a:xfrm>
            <a:prstGeom prst="roundRect">
              <a:avLst>
                <a:gd fmla="val 11764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170" name="Google Shape;170;p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09625" y="3562350"/>
              <a:ext cx="171450" cy="15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4"/>
            <p:cNvSpPr txBox="1"/>
            <p:nvPr/>
          </p:nvSpPr>
          <p:spPr>
            <a:xfrm>
              <a:off x="809625" y="3533775"/>
              <a:ext cx="47721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4765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Agentes y Ejecutores (Nodes) </a:t>
              </a:r>
              <a:endParaRPr/>
            </a:p>
          </p:txBody>
        </p:sp>
        <p:sp>
          <p:nvSpPr>
            <p:cNvPr id="172" name="Google Shape;172;p4"/>
            <p:cNvSpPr txBox="1"/>
            <p:nvPr/>
          </p:nvSpPr>
          <p:spPr>
            <a:xfrm>
              <a:off x="762000" y="3848850"/>
              <a:ext cx="4772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Ejecutan las tareas pesadas en entornos aislados (Linux, Windows, contenedores Docker o pods de Kubernetes). </a:t>
              </a:r>
              <a:endParaRPr sz="1300"/>
            </a:p>
          </p:txBody>
        </p:sp>
      </p:grpSp>
      <p:grpSp>
        <p:nvGrpSpPr>
          <p:cNvPr id="173" name="Google Shape;173;p4"/>
          <p:cNvGrpSpPr/>
          <p:nvPr/>
        </p:nvGrpSpPr>
        <p:grpSpPr>
          <a:xfrm>
            <a:off x="6823375" y="4028400"/>
            <a:ext cx="5076900" cy="1122000"/>
            <a:chOff x="609600" y="4295775"/>
            <a:chExt cx="5076900" cy="1122000"/>
          </a:xfrm>
        </p:grpSpPr>
        <p:sp>
          <p:nvSpPr>
            <p:cNvPr id="174" name="Google Shape;174;p4"/>
            <p:cNvSpPr/>
            <p:nvPr/>
          </p:nvSpPr>
          <p:spPr>
            <a:xfrm>
              <a:off x="609600" y="4295775"/>
              <a:ext cx="5076900" cy="1122000"/>
            </a:xfrm>
            <a:prstGeom prst="roundRect">
              <a:avLst>
                <a:gd fmla="val 9708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809625" y="4453750"/>
              <a:ext cx="4659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2860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Comunicación SSH e Inbound (JNLP))</a:t>
              </a:r>
              <a:endParaRPr/>
            </a:p>
          </p:txBody>
        </p:sp>
        <p:sp>
          <p:nvSpPr>
            <p:cNvPr id="176" name="Google Shape;176;p4"/>
            <p:cNvSpPr txBox="1"/>
            <p:nvPr/>
          </p:nvSpPr>
          <p:spPr>
            <a:xfrm>
              <a:off x="809625" y="4733925"/>
              <a:ext cx="4772100" cy="60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</a:t>
              </a:r>
              <a:r>
                <a:rPr lang="en-US" sz="130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nlace bidireccional mediante SSH (puerto 22) o JNLP/WebSocket (puerto 50000) para agentes estáticos o dinámicos en la nube. </a:t>
              </a:r>
              <a:endParaRPr sz="1300"/>
            </a:p>
          </p:txBody>
        </p:sp>
      </p:grpSp>
      <p:sp>
        <p:nvSpPr>
          <p:cNvPr id="177" name="Google Shape;177;p4"/>
          <p:cNvSpPr/>
          <p:nvPr/>
        </p:nvSpPr>
        <p:spPr>
          <a:xfrm>
            <a:off x="6823375" y="5363950"/>
            <a:ext cx="5076900" cy="1122000"/>
          </a:xfrm>
          <a:prstGeom prst="roundRect">
            <a:avLst>
              <a:gd fmla="val 9708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4"/>
          <p:cNvSpPr txBox="1"/>
          <p:nvPr/>
        </p:nvSpPr>
        <p:spPr>
          <a:xfrm>
            <a:off x="7023400" y="5563975"/>
            <a:ext cx="4659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Archivos Declarativos (Jenkinsfile)</a:t>
            </a:r>
            <a:endParaRPr/>
          </a:p>
        </p:txBody>
      </p:sp>
      <p:sp>
        <p:nvSpPr>
          <p:cNvPr id="179" name="Google Shape;179;p4"/>
          <p:cNvSpPr txBox="1"/>
          <p:nvPr/>
        </p:nvSpPr>
        <p:spPr>
          <a:xfrm>
            <a:off x="7023400" y="5802100"/>
            <a:ext cx="4772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050">
              <a:solidFill>
                <a:srgbClr val="475569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flujo se rige por un estado deseado definido en código (Pipeline Declarativo) guardado en Git.</a:t>
            </a:r>
            <a:endParaRPr sz="1300"/>
          </a:p>
        </p:txBody>
      </p:sp>
      <p:pic>
        <p:nvPicPr>
          <p:cNvPr id="180" name="Google Shape;180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2463" y="2250912"/>
            <a:ext cx="5858324" cy="3289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4"/>
          <p:cNvSpPr txBox="1"/>
          <p:nvPr/>
        </p:nvSpPr>
        <p:spPr>
          <a:xfrm>
            <a:off x="6926200" y="4075125"/>
            <a:ext cx="346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📡 </a:t>
            </a:r>
            <a:endParaRPr/>
          </a:p>
        </p:txBody>
      </p:sp>
      <p:pic>
        <p:nvPicPr>
          <p:cNvPr descr="image.png" id="182" name="Google Shape;18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23400" y="5617350"/>
            <a:ext cx="1524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"/>
          <p:cNvSpPr/>
          <p:nvPr/>
        </p:nvSpPr>
        <p:spPr>
          <a:xfrm>
            <a:off x="657400" y="3176521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4365750" y="3176521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074100" y="3176521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09600" y="4893475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4317950" y="4893475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8026300" y="4893475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609600" y="457200"/>
            <a:ext cx="110682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04. Conceptos Clave</a:t>
            </a:r>
            <a:endParaRPr/>
          </a:p>
        </p:txBody>
      </p:sp>
      <p:sp>
        <p:nvSpPr>
          <p:cNvPr id="194" name="Google Shape;194;p5"/>
          <p:cNvSpPr txBox="1"/>
          <p:nvPr/>
        </p:nvSpPr>
        <p:spPr>
          <a:xfrm>
            <a:off x="609600" y="695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Terminología Esencial de Jenkins</a:t>
            </a:r>
            <a:endParaRPr/>
          </a:p>
        </p:txBody>
      </p:sp>
      <p:sp>
        <p:nvSpPr>
          <p:cNvPr id="195" name="Google Shape;195;p5"/>
          <p:cNvSpPr txBox="1"/>
          <p:nvPr/>
        </p:nvSpPr>
        <p:spPr>
          <a:xfrm>
            <a:off x="847900" y="3438465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Fases Lógicas </a:t>
            </a:r>
            <a:endParaRPr sz="1500"/>
          </a:p>
        </p:txBody>
      </p:sp>
      <p:sp>
        <p:nvSpPr>
          <p:cNvPr id="196" name="Google Shape;196;p5"/>
          <p:cNvSpPr txBox="1"/>
          <p:nvPr/>
        </p:nvSpPr>
        <p:spPr>
          <a:xfrm>
            <a:off x="4556250" y="3438465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Tareas e Instrucciones </a:t>
            </a:r>
            <a:endParaRPr sz="1500"/>
          </a:p>
        </p:txBody>
      </p:sp>
      <p:sp>
        <p:nvSpPr>
          <p:cNvPr id="197" name="Google Shape;197;p5"/>
          <p:cNvSpPr txBox="1"/>
          <p:nvPr/>
        </p:nvSpPr>
        <p:spPr>
          <a:xfrm>
            <a:off x="8264600" y="3438465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Variables y Parámetros </a:t>
            </a:r>
            <a:endParaRPr sz="1500"/>
          </a:p>
        </p:txBody>
      </p:sp>
      <p:sp>
        <p:nvSpPr>
          <p:cNvPr id="198" name="Google Shape;198;p5"/>
          <p:cNvSpPr txBox="1"/>
          <p:nvPr/>
        </p:nvSpPr>
        <p:spPr>
          <a:xfrm>
            <a:off x="800100" y="5155412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 Post-Ejecución </a:t>
            </a:r>
            <a:endParaRPr sz="1500"/>
          </a:p>
        </p:txBody>
      </p:sp>
      <p:sp>
        <p:nvSpPr>
          <p:cNvPr id="199" name="Google Shape;199;p5"/>
          <p:cNvSpPr txBox="1"/>
          <p:nvPr/>
        </p:nvSpPr>
        <p:spPr>
          <a:xfrm>
            <a:off x="4508450" y="5155412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Módulos y Secretos </a:t>
            </a:r>
            <a:endParaRPr sz="1500"/>
          </a:p>
        </p:txBody>
      </p:sp>
      <p:sp>
        <p:nvSpPr>
          <p:cNvPr id="200" name="Google Shape;200;p5"/>
          <p:cNvSpPr txBox="1"/>
          <p:nvPr/>
        </p:nvSpPr>
        <p:spPr>
          <a:xfrm>
            <a:off x="8216800" y="5155412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Espacio de Trabajo y Salidas </a:t>
            </a:r>
            <a:endParaRPr sz="1500"/>
          </a:p>
        </p:txBody>
      </p:sp>
      <p:sp>
        <p:nvSpPr>
          <p:cNvPr id="201" name="Google Shape;201;p5"/>
          <p:cNvSpPr txBox="1"/>
          <p:nvPr/>
        </p:nvSpPr>
        <p:spPr>
          <a:xfrm>
            <a:off x="857425" y="3844479"/>
            <a:ext cx="325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stages / stage : Bloques lógicos que agrupan fases del proceso (ej. Build, Test, Deploy). </a:t>
            </a:r>
            <a:endParaRPr sz="1150"/>
          </a:p>
        </p:txBody>
      </p:sp>
      <p:sp>
        <p:nvSpPr>
          <p:cNvPr id="202" name="Google Shape;202;p5"/>
          <p:cNvSpPr txBox="1"/>
          <p:nvPr/>
        </p:nvSpPr>
        <p:spPr>
          <a:xfrm>
            <a:off x="4565775" y="3844479"/>
            <a:ext cx="325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steps / sh : Tareas individuales y comandos de consola a ejecutar dentro de cada etapa. </a:t>
            </a:r>
            <a:endParaRPr sz="1150"/>
          </a:p>
        </p:txBody>
      </p:sp>
      <p:sp>
        <p:nvSpPr>
          <p:cNvPr id="203" name="Google Shape;203;p5"/>
          <p:cNvSpPr txBox="1"/>
          <p:nvPr/>
        </p:nvSpPr>
        <p:spPr>
          <a:xfrm>
            <a:off x="8274125" y="3844479"/>
            <a:ext cx="3251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environment : Define variables de entorno globales o por etapa necesarias para la compilación y despliegue. </a:t>
            </a:r>
            <a:endParaRPr sz="1500"/>
          </a:p>
        </p:txBody>
      </p:sp>
      <p:sp>
        <p:nvSpPr>
          <p:cNvPr id="204" name="Google Shape;204;p5"/>
          <p:cNvSpPr txBox="1"/>
          <p:nvPr/>
        </p:nvSpPr>
        <p:spPr>
          <a:xfrm>
            <a:off x="809625" y="5561413"/>
            <a:ext cx="3251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post (Bloques de Condición) : Acciones automatizadas según el resultado de la ejecución (always, success, failure, cleanup). </a:t>
            </a:r>
            <a:endParaRPr sz="1500"/>
          </a:p>
        </p:txBody>
      </p:sp>
      <p:sp>
        <p:nvSpPr>
          <p:cNvPr id="205" name="Google Shape;205;p5"/>
          <p:cNvSpPr txBox="1"/>
          <p:nvPr/>
        </p:nvSpPr>
        <p:spPr>
          <a:xfrm>
            <a:off x="4517975" y="5561413"/>
            <a:ext cx="3251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Plugins &amp; Credentials : Módulos que extienden funcionalidades e inyectan credenciales y tokens cifrados. </a:t>
            </a:r>
            <a:endParaRPr sz="1500"/>
          </a:p>
        </p:txBody>
      </p:sp>
      <p:sp>
        <p:nvSpPr>
          <p:cNvPr id="206" name="Google Shape;206;p5"/>
          <p:cNvSpPr txBox="1"/>
          <p:nvPr/>
        </p:nvSpPr>
        <p:spPr>
          <a:xfrm>
            <a:off x="8226325" y="5561413"/>
            <a:ext cx="3251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Workspace &amp; Artefactos : Directores aislados en los agentes y archivos o binarios persistidos post-construcción. </a:t>
            </a:r>
            <a:endParaRPr sz="1500"/>
          </a:p>
        </p:txBody>
      </p:sp>
      <p:sp>
        <p:nvSpPr>
          <p:cNvPr id="207" name="Google Shape;207;p5"/>
          <p:cNvSpPr/>
          <p:nvPr/>
        </p:nvSpPr>
        <p:spPr>
          <a:xfrm>
            <a:off x="657400" y="1459570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4365750" y="1459570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8074100" y="1459570"/>
            <a:ext cx="3555900" cy="1414500"/>
          </a:xfrm>
          <a:prstGeom prst="roundRect">
            <a:avLst>
              <a:gd fmla="val 7407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 txBox="1"/>
          <p:nvPr/>
        </p:nvSpPr>
        <p:spPr>
          <a:xfrm>
            <a:off x="847900" y="1721514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Archivo de Configuración </a:t>
            </a:r>
            <a:endParaRPr sz="1500"/>
          </a:p>
        </p:txBody>
      </p:sp>
      <p:sp>
        <p:nvSpPr>
          <p:cNvPr id="211" name="Google Shape;211;p5"/>
          <p:cNvSpPr txBox="1"/>
          <p:nvPr/>
        </p:nvSpPr>
        <p:spPr>
          <a:xfrm>
            <a:off x="4556250" y="1721514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Flujo </a:t>
            </a:r>
            <a:endParaRPr sz="1500"/>
          </a:p>
        </p:txBody>
      </p:sp>
      <p:sp>
        <p:nvSpPr>
          <p:cNvPr id="212" name="Google Shape;212;p5"/>
          <p:cNvSpPr txBox="1"/>
          <p:nvPr/>
        </p:nvSpPr>
        <p:spPr>
          <a:xfrm>
            <a:off x="8264600" y="1721514"/>
            <a:ext cx="3270300" cy="1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25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Recurso de Ejecución </a:t>
            </a:r>
            <a:endParaRPr sz="1500"/>
          </a:p>
        </p:txBody>
      </p:sp>
      <p:sp>
        <p:nvSpPr>
          <p:cNvPr id="213" name="Google Shape;213;p5"/>
          <p:cNvSpPr txBox="1"/>
          <p:nvPr/>
        </p:nvSpPr>
        <p:spPr>
          <a:xfrm>
            <a:off x="857425" y="2127528"/>
            <a:ext cx="3251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Jenkinsfile (Pipeline as Code) : Archivo en Git que define formalmente todo el proceso de integración y entrega continua. </a:t>
            </a:r>
            <a:endParaRPr sz="1500"/>
          </a:p>
        </p:txBody>
      </p:sp>
      <p:sp>
        <p:nvSpPr>
          <p:cNvPr id="214" name="Google Shape;214;p5"/>
          <p:cNvSpPr txBox="1"/>
          <p:nvPr/>
        </p:nvSpPr>
        <p:spPr>
          <a:xfrm>
            <a:off x="4565775" y="2127528"/>
            <a:ext cx="3251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Pipeline : </a:t>
            </a:r>
            <a:r>
              <a:rPr b="0" i="0" lang="en-US" sz="1150" u="none" cap="none" strike="noStrik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automatizado del flujo de construcción, validación y despliegue.</a:t>
            </a:r>
            <a:endParaRPr sz="1150"/>
          </a:p>
        </p:txBody>
      </p:sp>
      <p:sp>
        <p:nvSpPr>
          <p:cNvPr id="215" name="Google Shape;215;p5"/>
          <p:cNvSpPr txBox="1"/>
          <p:nvPr/>
        </p:nvSpPr>
        <p:spPr>
          <a:xfrm>
            <a:off x="8274125" y="2127528"/>
            <a:ext cx="32511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Agent : Especifica en qué nodo, máquina o contenedor Docker/Kubernetes se ejecutará la tarea. </a:t>
            </a:r>
            <a:endParaRPr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"/>
          <p:cNvSpPr/>
          <p:nvPr/>
        </p:nvSpPr>
        <p:spPr>
          <a:xfrm>
            <a:off x="609600" y="1480525"/>
            <a:ext cx="6068100" cy="4638300"/>
          </a:xfrm>
          <a:prstGeom prst="roundRect">
            <a:avLst>
              <a:gd fmla="val 3319" name="adj"/>
            </a:avLst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 txBox="1"/>
          <p:nvPr/>
        </p:nvSpPr>
        <p:spPr>
          <a:xfrm>
            <a:off x="609600" y="4572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05. EJEMPL</a:t>
            </a:r>
            <a:r>
              <a:rPr b="1" lang="en-US" sz="1050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 : </a:t>
            </a: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Tutorial Oficial (Jenkinsfile)</a:t>
            </a:r>
            <a:endParaRPr/>
          </a:p>
        </p:txBody>
      </p:sp>
      <p:sp>
        <p:nvSpPr>
          <p:cNvPr id="222" name="Google Shape;222;p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de un Jenkinsfile Declarativo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741450" y="1613725"/>
            <a:ext cx="5804400" cy="43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pipeline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agent any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stages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stage('Build')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steps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sh 'npm install'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stage('Test')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steps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sh './jenkins/scripts/test.sh'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stage('Deliver')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steps {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sh './jenkins/scripts/deliver.sh'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input message: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    'Finished using the web site? (Click "Proceed" to continue)'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    sh './jenkins/scripts/kill.sh'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    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E2E8F0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}</a:t>
            </a:r>
            <a:endParaRPr sz="1050">
              <a:solidFill>
                <a:srgbClr val="E2E8F0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  <p:grpSp>
        <p:nvGrpSpPr>
          <p:cNvPr id="224" name="Google Shape;224;p6"/>
          <p:cNvGrpSpPr/>
          <p:nvPr/>
        </p:nvGrpSpPr>
        <p:grpSpPr>
          <a:xfrm>
            <a:off x="6941207" y="1686274"/>
            <a:ext cx="4641205" cy="1222636"/>
            <a:chOff x="6941194" y="2481262"/>
            <a:chExt cx="4641205" cy="771525"/>
          </a:xfrm>
        </p:grpSpPr>
        <p:sp>
          <p:nvSpPr>
            <p:cNvPr id="225" name="Google Shape;225;p6"/>
            <p:cNvSpPr/>
            <p:nvPr/>
          </p:nvSpPr>
          <p:spPr>
            <a:xfrm>
              <a:off x="6941194" y="2481262"/>
              <a:ext cx="4641205" cy="771525"/>
            </a:xfrm>
            <a:prstGeom prst="roundRect">
              <a:avLst>
                <a:gd fmla="val 1234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7112644" y="2652712"/>
              <a:ext cx="4393500" cy="1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25" u="none" cap="none" strike="noStrike">
                  <a:solidFill>
                    <a:srgbClr val="0284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agent any:</a:t>
              </a:r>
              <a:endParaRPr sz="1600"/>
            </a:p>
          </p:txBody>
        </p:sp>
        <p:sp>
          <p:nvSpPr>
            <p:cNvPr id="227" name="Google Shape;227;p6"/>
            <p:cNvSpPr txBox="1"/>
            <p:nvPr/>
          </p:nvSpPr>
          <p:spPr>
            <a:xfrm>
              <a:off x="7122175" y="2900350"/>
              <a:ext cx="4374600" cy="2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Solicita un nodo ejecutor y un workspace aislado disponible para procesar el pipeline. </a:t>
              </a:r>
              <a:endParaRPr sz="1600"/>
            </a:p>
          </p:txBody>
        </p:sp>
      </p:grpSp>
      <p:grpSp>
        <p:nvGrpSpPr>
          <p:cNvPr id="228" name="Google Shape;228;p6"/>
          <p:cNvGrpSpPr/>
          <p:nvPr/>
        </p:nvGrpSpPr>
        <p:grpSpPr>
          <a:xfrm>
            <a:off x="6941150" y="3131872"/>
            <a:ext cx="4641300" cy="1222600"/>
            <a:chOff x="6941194" y="3405187"/>
            <a:chExt cx="4641300" cy="771600"/>
          </a:xfrm>
        </p:grpSpPr>
        <p:sp>
          <p:nvSpPr>
            <p:cNvPr id="229" name="Google Shape;229;p6"/>
            <p:cNvSpPr/>
            <p:nvPr/>
          </p:nvSpPr>
          <p:spPr>
            <a:xfrm>
              <a:off x="6941194" y="3405187"/>
              <a:ext cx="4641300" cy="771600"/>
            </a:xfrm>
            <a:prstGeom prst="roundRect">
              <a:avLst>
                <a:gd fmla="val 12345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6"/>
            <p:cNvSpPr txBox="1"/>
            <p:nvPr/>
          </p:nvSpPr>
          <p:spPr>
            <a:xfrm>
              <a:off x="7112644" y="3576637"/>
              <a:ext cx="4393500" cy="1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25" u="none" cap="none" strike="noStrike">
                  <a:solidFill>
                    <a:srgbClr val="0284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stages / stage:</a:t>
              </a:r>
              <a:endParaRPr sz="1600"/>
            </a:p>
          </p:txBody>
        </p:sp>
        <p:sp>
          <p:nvSpPr>
            <p:cNvPr id="231" name="Google Shape;231;p6"/>
            <p:cNvSpPr txBox="1"/>
            <p:nvPr/>
          </p:nvSpPr>
          <p:spPr>
            <a:xfrm>
              <a:off x="7122174" y="3824275"/>
              <a:ext cx="4318200" cy="2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Agrupa de forma secuencial las fases del proceso: Construcción (Build), Pruebas (Test) y Entrega (Deliver).</a:t>
              </a:r>
              <a:endParaRPr sz="1600"/>
            </a:p>
          </p:txBody>
        </p:sp>
      </p:grpSp>
      <p:grpSp>
        <p:nvGrpSpPr>
          <p:cNvPr id="232" name="Google Shape;232;p6"/>
          <p:cNvGrpSpPr/>
          <p:nvPr/>
        </p:nvGrpSpPr>
        <p:grpSpPr>
          <a:xfrm>
            <a:off x="6941207" y="4577446"/>
            <a:ext cx="4641205" cy="1222567"/>
            <a:chOff x="6941194" y="4329112"/>
            <a:chExt cx="4641205" cy="942975"/>
          </a:xfrm>
        </p:grpSpPr>
        <p:sp>
          <p:nvSpPr>
            <p:cNvPr id="233" name="Google Shape;233;p6"/>
            <p:cNvSpPr/>
            <p:nvPr/>
          </p:nvSpPr>
          <p:spPr>
            <a:xfrm>
              <a:off x="6941194" y="4329112"/>
              <a:ext cx="4641205" cy="942975"/>
            </a:xfrm>
            <a:prstGeom prst="roundRect">
              <a:avLst>
                <a:gd fmla="val 1010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6"/>
            <p:cNvSpPr txBox="1"/>
            <p:nvPr/>
          </p:nvSpPr>
          <p:spPr>
            <a:xfrm>
              <a:off x="7112644" y="4500562"/>
              <a:ext cx="4393500" cy="1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25" u="none" cap="none" strike="noStrike">
                  <a:solidFill>
                    <a:srgbClr val="0284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steps / sh:</a:t>
              </a:r>
              <a:endParaRPr sz="1600"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7122169" y="4748212"/>
              <a:ext cx="4374600" cy="29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Ejecuta comandos de consola (npm install, scripts) e introduce pausas de aprobación manual (input).</a:t>
              </a:r>
              <a:endParaRPr sz="160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"/>
          <p:cNvSpPr txBox="1"/>
          <p:nvPr/>
        </p:nvSpPr>
        <p:spPr>
          <a:xfrm>
            <a:off x="609600" y="705700"/>
            <a:ext cx="11582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06. FLUJO DE TRABAJO</a:t>
            </a:r>
            <a:endParaRPr/>
          </a:p>
        </p:txBody>
      </p:sp>
      <p:sp>
        <p:nvSpPr>
          <p:cNvPr id="241" name="Google Shape;241;p7"/>
          <p:cNvSpPr txBox="1"/>
          <p:nvPr/>
        </p:nvSpPr>
        <p:spPr>
          <a:xfrm>
            <a:off x="609600" y="953325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Ciclo de Vida de Automatización</a:t>
            </a:r>
            <a:endParaRPr/>
          </a:p>
        </p:txBody>
      </p:sp>
      <p:pic>
        <p:nvPicPr>
          <p:cNvPr descr="image.png" id="242" name="Google Shape;2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900" y="36623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95850" y="36623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56563" y="3662362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29750" y="3662362"/>
            <a:ext cx="133350" cy="152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" name="Google Shape;246;p7"/>
          <p:cNvGrpSpPr/>
          <p:nvPr/>
        </p:nvGrpSpPr>
        <p:grpSpPr>
          <a:xfrm>
            <a:off x="609588" y="2315653"/>
            <a:ext cx="1905000" cy="2845800"/>
            <a:chOff x="609588" y="2315653"/>
            <a:chExt cx="1905000" cy="2845800"/>
          </a:xfrm>
        </p:grpSpPr>
        <p:sp>
          <p:nvSpPr>
            <p:cNvPr id="247" name="Google Shape;247;p7"/>
            <p:cNvSpPr/>
            <p:nvPr/>
          </p:nvSpPr>
          <p:spPr>
            <a:xfrm>
              <a:off x="609588" y="2315653"/>
              <a:ext cx="1905000" cy="2845800"/>
            </a:xfrm>
            <a:prstGeom prst="roundRect">
              <a:avLst>
                <a:gd fmla="val 7246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8" name="Google Shape;248;p7"/>
            <p:cNvGrpSpPr/>
            <p:nvPr/>
          </p:nvGrpSpPr>
          <p:grpSpPr>
            <a:xfrm>
              <a:off x="1247650" y="2595562"/>
              <a:ext cx="628800" cy="342900"/>
              <a:chOff x="1247625" y="3262312"/>
              <a:chExt cx="628800" cy="342900"/>
            </a:xfrm>
          </p:grpSpPr>
          <p:sp>
            <p:nvSpPr>
              <p:cNvPr id="249" name="Google Shape;249;p7"/>
              <p:cNvSpPr/>
              <p:nvPr/>
            </p:nvSpPr>
            <p:spPr>
              <a:xfrm>
                <a:off x="1390650" y="3262312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0" name="Google Shape;250;p7"/>
              <p:cNvSpPr txBox="1"/>
              <p:nvPr/>
            </p:nvSpPr>
            <p:spPr>
              <a:xfrm>
                <a:off x="1247625" y="3341362"/>
                <a:ext cx="628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1</a:t>
                </a:r>
                <a:endParaRPr/>
              </a:p>
            </p:txBody>
          </p:sp>
        </p:grpSp>
        <p:sp>
          <p:nvSpPr>
            <p:cNvPr id="251" name="Google Shape;251;p7"/>
            <p:cNvSpPr txBox="1"/>
            <p:nvPr/>
          </p:nvSpPr>
          <p:spPr>
            <a:xfrm>
              <a:off x="681850" y="3081329"/>
              <a:ext cx="17604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3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Desarrollador</a:t>
              </a:r>
              <a:endParaRPr sz="1300"/>
            </a:p>
          </p:txBody>
        </p:sp>
        <p:sp>
          <p:nvSpPr>
            <p:cNvPr id="252" name="Google Shape;252;p7"/>
            <p:cNvSpPr txBox="1"/>
            <p:nvPr/>
          </p:nvSpPr>
          <p:spPr>
            <a:xfrm>
              <a:off x="773900" y="3461500"/>
              <a:ext cx="1559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Realiza cambios en el código fuente de la aplicación y ejecuta un git push hacia la rama principal.</a:t>
              </a:r>
              <a:endParaRPr sz="1200"/>
            </a:p>
          </p:txBody>
        </p:sp>
      </p:grpSp>
      <p:grpSp>
        <p:nvGrpSpPr>
          <p:cNvPr id="253" name="Google Shape;253;p7"/>
          <p:cNvGrpSpPr/>
          <p:nvPr/>
        </p:nvGrpSpPr>
        <p:grpSpPr>
          <a:xfrm>
            <a:off x="2876538" y="2315653"/>
            <a:ext cx="1905000" cy="2845800"/>
            <a:chOff x="609588" y="2315653"/>
            <a:chExt cx="1905000" cy="2845800"/>
          </a:xfrm>
        </p:grpSpPr>
        <p:sp>
          <p:nvSpPr>
            <p:cNvPr id="254" name="Google Shape;254;p7"/>
            <p:cNvSpPr/>
            <p:nvPr/>
          </p:nvSpPr>
          <p:spPr>
            <a:xfrm>
              <a:off x="609588" y="2315653"/>
              <a:ext cx="1905000" cy="2845800"/>
            </a:xfrm>
            <a:prstGeom prst="roundRect">
              <a:avLst>
                <a:gd fmla="val 7246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5" name="Google Shape;255;p7"/>
            <p:cNvGrpSpPr/>
            <p:nvPr/>
          </p:nvGrpSpPr>
          <p:grpSpPr>
            <a:xfrm>
              <a:off x="1247650" y="2595562"/>
              <a:ext cx="628800" cy="342900"/>
              <a:chOff x="1247625" y="3262312"/>
              <a:chExt cx="628800" cy="342900"/>
            </a:xfrm>
          </p:grpSpPr>
          <p:sp>
            <p:nvSpPr>
              <p:cNvPr id="256" name="Google Shape;256;p7"/>
              <p:cNvSpPr/>
              <p:nvPr/>
            </p:nvSpPr>
            <p:spPr>
              <a:xfrm>
                <a:off x="1390650" y="3262312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" name="Google Shape;257;p7"/>
              <p:cNvSpPr txBox="1"/>
              <p:nvPr/>
            </p:nvSpPr>
            <p:spPr>
              <a:xfrm>
                <a:off x="1247625" y="3341362"/>
                <a:ext cx="628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-US" sz="1200" u="none" cap="none" strike="noStrike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2</a:t>
                </a:r>
                <a:endParaRPr/>
              </a:p>
            </p:txBody>
          </p:sp>
        </p:grpSp>
        <p:sp>
          <p:nvSpPr>
            <p:cNvPr id="258" name="Google Shape;258;p7"/>
            <p:cNvSpPr txBox="1"/>
            <p:nvPr/>
          </p:nvSpPr>
          <p:spPr>
            <a:xfrm>
              <a:off x="681850" y="3081329"/>
              <a:ext cx="17604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GitHub (SCM) </a:t>
              </a:r>
              <a:endParaRPr sz="1300"/>
            </a:p>
          </p:txBody>
        </p:sp>
        <p:sp>
          <p:nvSpPr>
            <p:cNvPr id="259" name="Google Shape;259;p7"/>
            <p:cNvSpPr txBox="1"/>
            <p:nvPr/>
          </p:nvSpPr>
          <p:spPr>
            <a:xfrm>
              <a:off x="773900" y="3461500"/>
              <a:ext cx="15597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Almacena el repositorio junto con el Jenkinsfile y envía una notificación automática (Webhook) a Jenkins.</a:t>
              </a:r>
              <a:endParaRPr sz="1200"/>
            </a:p>
          </p:txBody>
        </p:sp>
      </p:grpSp>
      <p:grpSp>
        <p:nvGrpSpPr>
          <p:cNvPr id="260" name="Google Shape;260;p7"/>
          <p:cNvGrpSpPr/>
          <p:nvPr/>
        </p:nvGrpSpPr>
        <p:grpSpPr>
          <a:xfrm>
            <a:off x="5113411" y="2315650"/>
            <a:ext cx="2025206" cy="2845800"/>
            <a:chOff x="609588" y="2315653"/>
            <a:chExt cx="1905000" cy="2845800"/>
          </a:xfrm>
        </p:grpSpPr>
        <p:sp>
          <p:nvSpPr>
            <p:cNvPr id="261" name="Google Shape;261;p7"/>
            <p:cNvSpPr/>
            <p:nvPr/>
          </p:nvSpPr>
          <p:spPr>
            <a:xfrm>
              <a:off x="609588" y="2315653"/>
              <a:ext cx="1905000" cy="2845800"/>
            </a:xfrm>
            <a:prstGeom prst="roundRect">
              <a:avLst>
                <a:gd fmla="val 7246" name="adj"/>
              </a:avLst>
            </a:prstGeom>
            <a:solidFill>
              <a:srgbClr val="F0F9FF"/>
            </a:solidFill>
            <a:ln cap="flat" cmpd="sng" w="9525">
              <a:solidFill>
                <a:srgbClr val="0284C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" name="Google Shape;262;p7"/>
            <p:cNvGrpSpPr/>
            <p:nvPr/>
          </p:nvGrpSpPr>
          <p:grpSpPr>
            <a:xfrm>
              <a:off x="1247650" y="2595562"/>
              <a:ext cx="628800" cy="342900"/>
              <a:chOff x="1247625" y="3262312"/>
              <a:chExt cx="628800" cy="342900"/>
            </a:xfrm>
          </p:grpSpPr>
          <p:sp>
            <p:nvSpPr>
              <p:cNvPr id="263" name="Google Shape;263;p7"/>
              <p:cNvSpPr/>
              <p:nvPr/>
            </p:nvSpPr>
            <p:spPr>
              <a:xfrm>
                <a:off x="1390650" y="3262312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7"/>
              <p:cNvSpPr txBox="1"/>
              <p:nvPr/>
            </p:nvSpPr>
            <p:spPr>
              <a:xfrm>
                <a:off x="1247625" y="3341362"/>
                <a:ext cx="628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3</a:t>
                </a:r>
                <a:endParaRPr/>
              </a:p>
            </p:txBody>
          </p:sp>
        </p:grpSp>
        <p:sp>
          <p:nvSpPr>
            <p:cNvPr id="265" name="Google Shape;265;p7"/>
            <p:cNvSpPr txBox="1"/>
            <p:nvPr/>
          </p:nvSpPr>
          <p:spPr>
            <a:xfrm>
              <a:off x="639662" y="3099925"/>
              <a:ext cx="18327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Jenkins (CI/CD Server) </a:t>
              </a:r>
              <a:endParaRPr sz="1300"/>
            </a:p>
          </p:txBody>
        </p:sp>
        <p:sp>
          <p:nvSpPr>
            <p:cNvPr id="266" name="Google Shape;266;p7"/>
            <p:cNvSpPr txBox="1"/>
            <p:nvPr/>
          </p:nvSpPr>
          <p:spPr>
            <a:xfrm>
              <a:off x="773900" y="3461500"/>
              <a:ext cx="1559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El Controller detecta el evento, lee las instrucciones del Jenkinsfile y asigna la ejecución a un Agente.</a:t>
              </a:r>
              <a:endParaRPr sz="1200"/>
            </a:p>
          </p:txBody>
        </p:sp>
      </p:grpSp>
      <p:grpSp>
        <p:nvGrpSpPr>
          <p:cNvPr id="267" name="Google Shape;267;p7"/>
          <p:cNvGrpSpPr/>
          <p:nvPr/>
        </p:nvGrpSpPr>
        <p:grpSpPr>
          <a:xfrm>
            <a:off x="7457325" y="2315653"/>
            <a:ext cx="1905000" cy="2845800"/>
            <a:chOff x="609588" y="2315653"/>
            <a:chExt cx="1905000" cy="2845800"/>
          </a:xfrm>
        </p:grpSpPr>
        <p:sp>
          <p:nvSpPr>
            <p:cNvPr id="268" name="Google Shape;268;p7"/>
            <p:cNvSpPr/>
            <p:nvPr/>
          </p:nvSpPr>
          <p:spPr>
            <a:xfrm>
              <a:off x="609588" y="2315653"/>
              <a:ext cx="1905000" cy="2845800"/>
            </a:xfrm>
            <a:prstGeom prst="roundRect">
              <a:avLst>
                <a:gd fmla="val 7246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" name="Google Shape;269;p7"/>
            <p:cNvGrpSpPr/>
            <p:nvPr/>
          </p:nvGrpSpPr>
          <p:grpSpPr>
            <a:xfrm>
              <a:off x="1247650" y="2595562"/>
              <a:ext cx="628800" cy="342900"/>
              <a:chOff x="1247625" y="3262312"/>
              <a:chExt cx="628800" cy="342900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1390650" y="3262312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0284C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" name="Google Shape;271;p7"/>
              <p:cNvSpPr txBox="1"/>
              <p:nvPr/>
            </p:nvSpPr>
            <p:spPr>
              <a:xfrm>
                <a:off x="1247625" y="3341362"/>
                <a:ext cx="628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4</a:t>
                </a:r>
                <a:endParaRPr/>
              </a:p>
            </p:txBody>
          </p:sp>
        </p:grpSp>
        <p:sp>
          <p:nvSpPr>
            <p:cNvPr id="272" name="Google Shape;272;p7"/>
            <p:cNvSpPr txBox="1"/>
            <p:nvPr/>
          </p:nvSpPr>
          <p:spPr>
            <a:xfrm>
              <a:off x="681850" y="3081329"/>
              <a:ext cx="1760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Servidor de Despliegue </a:t>
              </a:r>
              <a:endParaRPr sz="1300"/>
            </a:p>
          </p:txBody>
        </p:sp>
        <p:sp>
          <p:nvSpPr>
            <p:cNvPr id="273" name="Google Shape;273;p7"/>
            <p:cNvSpPr txBox="1"/>
            <p:nvPr/>
          </p:nvSpPr>
          <p:spPr>
            <a:xfrm>
              <a:off x="782262" y="3624400"/>
              <a:ext cx="15597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El agente ejecuta los comandos de construcción, pruebas y despliegue sobre contenedores Docker o servidores destino.</a:t>
              </a:r>
              <a:endParaRPr sz="1200"/>
            </a:p>
          </p:txBody>
        </p:sp>
      </p:grpSp>
      <p:grpSp>
        <p:nvGrpSpPr>
          <p:cNvPr id="274" name="Google Shape;274;p7"/>
          <p:cNvGrpSpPr/>
          <p:nvPr/>
        </p:nvGrpSpPr>
        <p:grpSpPr>
          <a:xfrm>
            <a:off x="9681013" y="2372803"/>
            <a:ext cx="1905000" cy="2845800"/>
            <a:chOff x="609588" y="2315653"/>
            <a:chExt cx="1905000" cy="2845800"/>
          </a:xfrm>
        </p:grpSpPr>
        <p:sp>
          <p:nvSpPr>
            <p:cNvPr id="275" name="Google Shape;275;p7"/>
            <p:cNvSpPr/>
            <p:nvPr/>
          </p:nvSpPr>
          <p:spPr>
            <a:xfrm>
              <a:off x="609588" y="2315653"/>
              <a:ext cx="1905000" cy="2845800"/>
            </a:xfrm>
            <a:prstGeom prst="roundRect">
              <a:avLst>
                <a:gd fmla="val 7246" name="adj"/>
              </a:avLst>
            </a:prstGeom>
            <a:solidFill>
              <a:srgbClr val="F0FDF4"/>
            </a:solidFill>
            <a:ln cap="flat" cmpd="sng" w="9525">
              <a:solidFill>
                <a:srgbClr val="16A34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6" name="Google Shape;276;p7"/>
            <p:cNvGrpSpPr/>
            <p:nvPr/>
          </p:nvGrpSpPr>
          <p:grpSpPr>
            <a:xfrm>
              <a:off x="1247725" y="2595562"/>
              <a:ext cx="628800" cy="342900"/>
              <a:chOff x="1247700" y="3262312"/>
              <a:chExt cx="628800" cy="342900"/>
            </a:xfrm>
          </p:grpSpPr>
          <p:sp>
            <p:nvSpPr>
              <p:cNvPr id="277" name="Google Shape;277;p7"/>
              <p:cNvSpPr/>
              <p:nvPr/>
            </p:nvSpPr>
            <p:spPr>
              <a:xfrm>
                <a:off x="1390650" y="3262312"/>
                <a:ext cx="342900" cy="342900"/>
              </a:xfrm>
              <a:prstGeom prst="roundRect">
                <a:avLst>
                  <a:gd fmla="val 50000" name="adj"/>
                </a:avLst>
              </a:prstGeom>
              <a:solidFill>
                <a:srgbClr val="16A34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7"/>
              <p:cNvSpPr txBox="1"/>
              <p:nvPr/>
            </p:nvSpPr>
            <p:spPr>
              <a:xfrm>
                <a:off x="1247700" y="3341362"/>
                <a:ext cx="628800" cy="18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00">
                    <a:solidFill>
                      <a:srgbClr val="FFFFFF"/>
                    </a:solidFill>
                    <a:latin typeface="Plus Jakarta Sans"/>
                    <a:ea typeface="Plus Jakarta Sans"/>
                    <a:cs typeface="Plus Jakarta Sans"/>
                    <a:sym typeface="Plus Jakarta Sans"/>
                  </a:rPr>
                  <a:t>5</a:t>
                </a:r>
                <a:endParaRPr/>
              </a:p>
            </p:txBody>
          </p:sp>
        </p:grpSp>
        <p:sp>
          <p:nvSpPr>
            <p:cNvPr id="279" name="Google Shape;279;p7"/>
            <p:cNvSpPr txBox="1"/>
            <p:nvPr/>
          </p:nvSpPr>
          <p:spPr>
            <a:xfrm>
              <a:off x="681850" y="3081329"/>
              <a:ext cx="1760400" cy="2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GitHub (SCM) </a:t>
              </a:r>
              <a:endParaRPr sz="1300"/>
            </a:p>
          </p:txBody>
        </p:sp>
        <p:sp>
          <p:nvSpPr>
            <p:cNvPr id="280" name="Google Shape;280;p7"/>
            <p:cNvSpPr txBox="1"/>
            <p:nvPr/>
          </p:nvSpPr>
          <p:spPr>
            <a:xfrm>
              <a:off x="773900" y="3461500"/>
              <a:ext cx="1559700" cy="110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rgbClr val="64748B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La nueva versión del software queda desplegada, verificada y accesible para los usuarios finales.</a:t>
              </a:r>
              <a:endParaRPr sz="12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07. INTEGRACIONES</a:t>
            </a:r>
            <a:endParaRPr/>
          </a:p>
        </p:txBody>
      </p:sp>
      <p:sp>
        <p:nvSpPr>
          <p:cNvPr id="286" name="Google Shape;286;p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Integración con el Ecosistema DevOps</a:t>
            </a:r>
            <a:endParaRPr/>
          </a:p>
        </p:txBody>
      </p:sp>
      <p:grpSp>
        <p:nvGrpSpPr>
          <p:cNvPr id="287" name="Google Shape;287;p8"/>
          <p:cNvGrpSpPr/>
          <p:nvPr/>
        </p:nvGrpSpPr>
        <p:grpSpPr>
          <a:xfrm>
            <a:off x="971945" y="1574557"/>
            <a:ext cx="2941996" cy="2432042"/>
            <a:chOff x="3409953" y="1504335"/>
            <a:chExt cx="2571900" cy="2028900"/>
          </a:xfrm>
        </p:grpSpPr>
        <p:sp>
          <p:nvSpPr>
            <p:cNvPr id="288" name="Google Shape;288;p8"/>
            <p:cNvSpPr/>
            <p:nvPr/>
          </p:nvSpPr>
          <p:spPr>
            <a:xfrm>
              <a:off x="3409953" y="1504335"/>
              <a:ext cx="2571900" cy="2028900"/>
            </a:xfrm>
            <a:prstGeom prst="roundRect">
              <a:avLst>
                <a:gd fmla="val 5633" name="adj"/>
              </a:avLst>
            </a:prstGeom>
            <a:solidFill>
              <a:srgbClr val="FFFFFF"/>
            </a:solidFill>
            <a:ln cap="flat" cmpd="sng" w="109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104575" spcFirstLastPara="1" rIns="104575" wrap="square" tIns="52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89" name="Google Shape;289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48075" y="1742462"/>
              <a:ext cx="295275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0" name="Google Shape;290;p8"/>
            <p:cNvSpPr txBox="1"/>
            <p:nvPr/>
          </p:nvSpPr>
          <p:spPr>
            <a:xfrm>
              <a:off x="3648075" y="2199650"/>
              <a:ext cx="2190900" cy="1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44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Git &amp; GitHub</a:t>
              </a:r>
              <a:endParaRPr sz="1602"/>
            </a:p>
          </p:txBody>
        </p:sp>
        <p:sp>
          <p:nvSpPr>
            <p:cNvPr id="291" name="Google Shape;291;p8"/>
            <p:cNvSpPr txBox="1"/>
            <p:nvPr/>
          </p:nvSpPr>
          <p:spPr>
            <a:xfrm>
              <a:off x="3648075" y="2494937"/>
              <a:ext cx="2190900" cy="8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Clonación de repositorio, disparo de pipelines por Webhooks (push / PR) y reporte de estado de los checks.</a:t>
              </a:r>
              <a:endParaRPr sz="1602"/>
            </a:p>
          </p:txBody>
        </p:sp>
      </p:grpSp>
      <p:grpSp>
        <p:nvGrpSpPr>
          <p:cNvPr id="292" name="Google Shape;292;p8"/>
          <p:cNvGrpSpPr/>
          <p:nvPr/>
        </p:nvGrpSpPr>
        <p:grpSpPr>
          <a:xfrm>
            <a:off x="4525716" y="1574594"/>
            <a:ext cx="2941996" cy="2432042"/>
            <a:chOff x="6210300" y="1504337"/>
            <a:chExt cx="2571900" cy="2028900"/>
          </a:xfrm>
        </p:grpSpPr>
        <p:sp>
          <p:nvSpPr>
            <p:cNvPr id="293" name="Google Shape;293;p8"/>
            <p:cNvSpPr/>
            <p:nvPr/>
          </p:nvSpPr>
          <p:spPr>
            <a:xfrm>
              <a:off x="6210300" y="1504337"/>
              <a:ext cx="2571900" cy="2028900"/>
            </a:xfrm>
            <a:prstGeom prst="roundRect">
              <a:avLst>
                <a:gd fmla="val 5633" name="adj"/>
              </a:avLst>
            </a:prstGeom>
            <a:solidFill>
              <a:srgbClr val="FFFFFF"/>
            </a:solidFill>
            <a:ln cap="flat" cmpd="sng" w="109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104575" spcFirstLastPara="1" rIns="104575" wrap="square" tIns="52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94" name="Google Shape;294;p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48425" y="1742462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5" name="Google Shape;295;p8"/>
            <p:cNvSpPr txBox="1"/>
            <p:nvPr/>
          </p:nvSpPr>
          <p:spPr>
            <a:xfrm>
              <a:off x="6448425" y="2199650"/>
              <a:ext cx="2190900" cy="1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44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Docker </a:t>
              </a:r>
              <a:endParaRPr sz="1601"/>
            </a:p>
          </p:txBody>
        </p:sp>
        <p:sp>
          <p:nvSpPr>
            <p:cNvPr id="296" name="Google Shape;296;p8"/>
            <p:cNvSpPr txBox="1"/>
            <p:nvPr/>
          </p:nvSpPr>
          <p:spPr>
            <a:xfrm>
              <a:off x="6448425" y="2494937"/>
              <a:ext cx="2190900" cy="8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Agentes de ejecución aislados, compilación de imágenes y publicación en registros de contenedores.</a:t>
              </a:r>
              <a:endParaRPr sz="1601"/>
            </a:p>
          </p:txBody>
        </p:sp>
      </p:grpSp>
      <p:grpSp>
        <p:nvGrpSpPr>
          <p:cNvPr id="297" name="Google Shape;297;p8"/>
          <p:cNvGrpSpPr/>
          <p:nvPr/>
        </p:nvGrpSpPr>
        <p:grpSpPr>
          <a:xfrm>
            <a:off x="2478274" y="4249842"/>
            <a:ext cx="3263998" cy="2320930"/>
            <a:chOff x="3409875" y="4089100"/>
            <a:chExt cx="2571900" cy="1828800"/>
          </a:xfrm>
        </p:grpSpPr>
        <p:sp>
          <p:nvSpPr>
            <p:cNvPr id="298" name="Google Shape;298;p8"/>
            <p:cNvSpPr/>
            <p:nvPr/>
          </p:nvSpPr>
          <p:spPr>
            <a:xfrm>
              <a:off x="3409875" y="4089100"/>
              <a:ext cx="2571900" cy="18288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21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8000" lIns="116025" spcFirstLastPara="1" rIns="116025" wrap="square" tIns="58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8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299" name="Google Shape;299;p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648000" y="4282518"/>
              <a:ext cx="2667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8"/>
            <p:cNvSpPr txBox="1"/>
            <p:nvPr/>
          </p:nvSpPr>
          <p:spPr>
            <a:xfrm>
              <a:off x="3600378" y="4742604"/>
              <a:ext cx="2190900" cy="1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Servidores Linux</a:t>
              </a:r>
              <a:endParaRPr sz="1500"/>
            </a:p>
          </p:txBody>
        </p:sp>
        <p:sp>
          <p:nvSpPr>
            <p:cNvPr id="301" name="Google Shape;301;p8"/>
            <p:cNvSpPr txBox="1"/>
            <p:nvPr/>
          </p:nvSpPr>
          <p:spPr>
            <a:xfrm>
              <a:off x="3568876" y="5037653"/>
              <a:ext cx="2253900" cy="57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Ejecución nativa de scripts shell (sh), administración de procesos del sistema y despliegue directo por SSH.</a:t>
              </a:r>
              <a:endParaRPr sz="1250"/>
            </a:p>
          </p:txBody>
        </p:sp>
      </p:grpSp>
      <p:grpSp>
        <p:nvGrpSpPr>
          <p:cNvPr id="302" name="Google Shape;302;p8"/>
          <p:cNvGrpSpPr/>
          <p:nvPr/>
        </p:nvGrpSpPr>
        <p:grpSpPr>
          <a:xfrm>
            <a:off x="6089096" y="4249845"/>
            <a:ext cx="3263998" cy="2320930"/>
            <a:chOff x="6210225" y="4089100"/>
            <a:chExt cx="2571900" cy="1828800"/>
          </a:xfrm>
        </p:grpSpPr>
        <p:sp>
          <p:nvSpPr>
            <p:cNvPr id="303" name="Google Shape;303;p8"/>
            <p:cNvSpPr/>
            <p:nvPr/>
          </p:nvSpPr>
          <p:spPr>
            <a:xfrm>
              <a:off x="6210225" y="4089100"/>
              <a:ext cx="2571900" cy="1828800"/>
            </a:xfrm>
            <a:prstGeom prst="roundRect">
              <a:avLst>
                <a:gd fmla="val 6250" name="adj"/>
              </a:avLst>
            </a:prstGeom>
            <a:solidFill>
              <a:srgbClr val="FFFFFF"/>
            </a:solidFill>
            <a:ln cap="flat" cmpd="sng" w="121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7975" lIns="116025" spcFirstLastPara="1" rIns="116025" wrap="square" tIns="579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84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image.png" id="304" name="Google Shape;304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448350" y="4282567"/>
              <a:ext cx="3810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5" name="Google Shape;305;p8"/>
            <p:cNvSpPr txBox="1"/>
            <p:nvPr/>
          </p:nvSpPr>
          <p:spPr>
            <a:xfrm>
              <a:off x="6448350" y="4702832"/>
              <a:ext cx="2190900" cy="18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00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Nube &amp; Kubernetes</a:t>
              </a:r>
              <a:endParaRPr sz="1500"/>
            </a:p>
          </p:txBody>
        </p:sp>
        <p:sp>
          <p:nvSpPr>
            <p:cNvPr id="306" name="Google Shape;306;p8"/>
            <p:cNvSpPr txBox="1"/>
            <p:nvPr/>
          </p:nvSpPr>
          <p:spPr>
            <a:xfrm>
              <a:off x="6448350" y="5000077"/>
              <a:ext cx="2190900" cy="78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50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Escalado elástico con agentes efímeros (Pods) aprovisionados bajo demanda en la nube para ahorrar recursos.</a:t>
              </a:r>
              <a:endParaRPr sz="1250"/>
            </a:p>
          </p:txBody>
        </p:sp>
      </p:grpSp>
      <p:grpSp>
        <p:nvGrpSpPr>
          <p:cNvPr id="307" name="Google Shape;307;p8"/>
          <p:cNvGrpSpPr/>
          <p:nvPr/>
        </p:nvGrpSpPr>
        <p:grpSpPr>
          <a:xfrm>
            <a:off x="8022198" y="1574613"/>
            <a:ext cx="3066224" cy="2432042"/>
            <a:chOff x="6210298" y="1504331"/>
            <a:chExt cx="2680500" cy="2028900"/>
          </a:xfrm>
        </p:grpSpPr>
        <p:sp>
          <p:nvSpPr>
            <p:cNvPr id="308" name="Google Shape;308;p8"/>
            <p:cNvSpPr/>
            <p:nvPr/>
          </p:nvSpPr>
          <p:spPr>
            <a:xfrm>
              <a:off x="6210298" y="1504331"/>
              <a:ext cx="2680500" cy="2028900"/>
            </a:xfrm>
            <a:prstGeom prst="roundRect">
              <a:avLst>
                <a:gd fmla="val 5633" name="adj"/>
              </a:avLst>
            </a:prstGeom>
            <a:solidFill>
              <a:srgbClr val="FFFFFF"/>
            </a:solidFill>
            <a:ln cap="flat" cmpd="sng" w="109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2275" lIns="104575" spcFirstLastPara="1" rIns="104575" wrap="square" tIns="52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8"/>
            <p:cNvSpPr txBox="1"/>
            <p:nvPr/>
          </p:nvSpPr>
          <p:spPr>
            <a:xfrm>
              <a:off x="6448425" y="2181325"/>
              <a:ext cx="2190900" cy="19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544" u="none" cap="none" strike="noStrike">
                  <a:solidFill>
                    <a:srgbClr val="0F172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Docker Compose</a:t>
              </a:r>
              <a:endParaRPr sz="1601"/>
            </a:p>
          </p:txBody>
        </p:sp>
        <p:sp>
          <p:nvSpPr>
            <p:cNvPr id="310" name="Google Shape;310;p8"/>
            <p:cNvSpPr txBox="1"/>
            <p:nvPr/>
          </p:nvSpPr>
          <p:spPr>
            <a:xfrm>
              <a:off x="6410796" y="2494934"/>
              <a:ext cx="2316900" cy="8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87">
                  <a:solidFill>
                    <a:srgbClr val="475569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Orquestación de entornos multi-contenedor para pruebas de integración y levantamiento de la infraestructura del laboratorio.</a:t>
              </a:r>
              <a:endParaRPr sz="1601"/>
            </a:p>
          </p:txBody>
        </p:sp>
      </p:grpSp>
      <p:pic>
        <p:nvPicPr>
          <p:cNvPr id="311" name="Google Shape;311;p8"/>
          <p:cNvPicPr preferRelativeResize="0"/>
          <p:nvPr/>
        </p:nvPicPr>
        <p:blipFill rotWithShape="1">
          <a:blip r:embed="rId7">
            <a:alphaModFix/>
          </a:blip>
          <a:srcRect b="8722" l="6560" r="59276" t="9692"/>
          <a:stretch/>
        </p:blipFill>
        <p:spPr>
          <a:xfrm>
            <a:off x="8334375" y="1729025"/>
            <a:ext cx="434849" cy="4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08. EVALUACIÓN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609600" y="704850"/>
            <a:ext cx="11582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Ventajas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</a:t>
            </a:r>
            <a:r>
              <a:rPr b="1" i="0" lang="en-US" sz="24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1" lang="en-US" sz="24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limitaciones y casos de uso</a:t>
            </a:r>
            <a:endParaRPr/>
          </a:p>
        </p:txBody>
      </p:sp>
      <p:grpSp>
        <p:nvGrpSpPr>
          <p:cNvPr id="318" name="Google Shape;318;p9"/>
          <p:cNvGrpSpPr/>
          <p:nvPr/>
        </p:nvGrpSpPr>
        <p:grpSpPr>
          <a:xfrm>
            <a:off x="609626" y="1801370"/>
            <a:ext cx="3490036" cy="4307246"/>
            <a:chOff x="609600" y="3009900"/>
            <a:chExt cx="5334000" cy="1771800"/>
          </a:xfrm>
        </p:grpSpPr>
        <p:sp>
          <p:nvSpPr>
            <p:cNvPr id="319" name="Google Shape;319;p9"/>
            <p:cNvSpPr/>
            <p:nvPr/>
          </p:nvSpPr>
          <p:spPr>
            <a:xfrm>
              <a:off x="609600" y="3009900"/>
              <a:ext cx="5334000" cy="1771800"/>
            </a:xfrm>
            <a:prstGeom prst="roundRect">
              <a:avLst>
                <a:gd fmla="val 645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9"/>
            <p:cNvSpPr txBox="1"/>
            <p:nvPr/>
          </p:nvSpPr>
          <p:spPr>
            <a:xfrm>
              <a:off x="1122207" y="3166115"/>
              <a:ext cx="45198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6670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 u="none" cap="none" strike="noStrike">
                  <a:solidFill>
                    <a:srgbClr val="16A34A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Ventajas</a:t>
              </a:r>
              <a:endParaRPr sz="1600"/>
            </a:p>
          </p:txBody>
        </p:sp>
        <p:sp>
          <p:nvSpPr>
            <p:cNvPr id="321" name="Google Shape;321;p9"/>
            <p:cNvSpPr txBox="1"/>
            <p:nvPr/>
          </p:nvSpPr>
          <p:spPr>
            <a:xfrm>
              <a:off x="1016693" y="3445167"/>
              <a:ext cx="4519800" cy="97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Ecosistema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: +1,800 plugins para integrar cualquier tecnología del mercado.   </a:t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Control Total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: 100% Open Source y autogestionado en infraestructura propia.   </a:t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Escalabilidad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: Ejecución distribuida robusta mediante controller y agentes.</a:t>
              </a:r>
              <a:endParaRPr sz="1600"/>
            </a:p>
          </p:txBody>
        </p:sp>
      </p:grpSp>
      <p:pic>
        <p:nvPicPr>
          <p:cNvPr descr="image.png" id="322" name="Google Shape;32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4325" y="2190675"/>
            <a:ext cx="238125" cy="238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9"/>
          <p:cNvGrpSpPr/>
          <p:nvPr/>
        </p:nvGrpSpPr>
        <p:grpSpPr>
          <a:xfrm>
            <a:off x="4351001" y="1801243"/>
            <a:ext cx="3490036" cy="4307246"/>
            <a:chOff x="609600" y="3009900"/>
            <a:chExt cx="5334000" cy="1771800"/>
          </a:xfrm>
        </p:grpSpPr>
        <p:sp>
          <p:nvSpPr>
            <p:cNvPr id="324" name="Google Shape;324;p9"/>
            <p:cNvSpPr/>
            <p:nvPr/>
          </p:nvSpPr>
          <p:spPr>
            <a:xfrm>
              <a:off x="609600" y="3009900"/>
              <a:ext cx="5334000" cy="1771800"/>
            </a:xfrm>
            <a:prstGeom prst="roundRect">
              <a:avLst>
                <a:gd fmla="val 645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9"/>
            <p:cNvSpPr txBox="1"/>
            <p:nvPr/>
          </p:nvSpPr>
          <p:spPr>
            <a:xfrm>
              <a:off x="1201299" y="3187346"/>
              <a:ext cx="45198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6670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DC2626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Limitaciones</a:t>
              </a:r>
              <a:endParaRPr b="1" sz="1900">
                <a:solidFill>
                  <a:srgbClr val="16A34A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  <p:sp>
          <p:nvSpPr>
            <p:cNvPr id="326" name="Google Shape;326;p9"/>
            <p:cNvSpPr txBox="1"/>
            <p:nvPr/>
          </p:nvSpPr>
          <p:spPr>
            <a:xfrm>
              <a:off x="1016713" y="3422996"/>
              <a:ext cx="4519800" cy="10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Mantenimiento: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Sobrecarga operativa al administrar el servidor, parches y agentes.   </a:t>
              </a:r>
              <a:b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Seguridad: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Vulnerabilidades recurrentes en plugins de terceros no actualizados.</a:t>
              </a:r>
              <a:b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Curva de Aprendizaje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: Configuración inicial compleja frente a alternativas SaaS.</a:t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/>
            </a:p>
          </p:txBody>
        </p:sp>
      </p:grpSp>
      <p:grpSp>
        <p:nvGrpSpPr>
          <p:cNvPr id="327" name="Google Shape;327;p9"/>
          <p:cNvGrpSpPr/>
          <p:nvPr/>
        </p:nvGrpSpPr>
        <p:grpSpPr>
          <a:xfrm>
            <a:off x="8092376" y="1801279"/>
            <a:ext cx="3490036" cy="4307246"/>
            <a:chOff x="609600" y="3009900"/>
            <a:chExt cx="5334000" cy="1771800"/>
          </a:xfrm>
        </p:grpSpPr>
        <p:sp>
          <p:nvSpPr>
            <p:cNvPr id="328" name="Google Shape;328;p9"/>
            <p:cNvSpPr/>
            <p:nvPr/>
          </p:nvSpPr>
          <p:spPr>
            <a:xfrm>
              <a:off x="609600" y="3009900"/>
              <a:ext cx="5334000" cy="1771800"/>
            </a:xfrm>
            <a:prstGeom prst="roundRect">
              <a:avLst>
                <a:gd fmla="val 645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9"/>
            <p:cNvSpPr txBox="1"/>
            <p:nvPr/>
          </p:nvSpPr>
          <p:spPr>
            <a:xfrm>
              <a:off x="932004" y="3166110"/>
              <a:ext cx="4699500" cy="10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66700" spcFirstLastPara="1" rIns="0" wrap="square" tIns="0">
              <a:spAutoFit/>
            </a:bodyPr>
            <a:lstStyle/>
            <a:p>
              <a:pPr indent="-5715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284C7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Casos de uso y competencia</a:t>
              </a:r>
              <a:endParaRPr sz="1600">
                <a:solidFill>
                  <a:srgbClr val="0284C7"/>
                </a:solidFill>
              </a:endParaRPr>
            </a:p>
          </p:txBody>
        </p:sp>
        <p:sp>
          <p:nvSpPr>
            <p:cNvPr id="330" name="Google Shape;330;p9"/>
            <p:cNvSpPr txBox="1"/>
            <p:nvPr/>
          </p:nvSpPr>
          <p:spPr>
            <a:xfrm>
              <a:off x="1038683" y="3402309"/>
              <a:ext cx="4519800" cy="132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¿Cuándo conviene?: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Proyectos empresariales complejos con infraestructura híbrida u on-premise.   </a:t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¿Cuándo es excesivo?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: Proyectos pequeños o equipos reducidos que buscan cero mantenimiento de servidor.   </a:t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b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Competencia: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 GitHub Actions, GitLab CI/CD.   </a:t>
              </a:r>
              <a:b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b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</a:br>
              <a:r>
                <a:rPr b="1"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Complementos</a:t>
              </a:r>
              <a:r>
                <a:rPr lang="en-US">
                  <a:solidFill>
                    <a:srgbClr val="334155"/>
                  </a:solidFill>
                  <a:latin typeface="Plus Jakarta Sans"/>
                  <a:ea typeface="Plus Jakarta Sans"/>
                  <a:cs typeface="Plus Jakarta Sans"/>
                  <a:sym typeface="Plus Jakarta Sans"/>
                </a:rPr>
                <a:t>: Docker, Terraform, Ansible. </a:t>
              </a:r>
              <a:endParaRPr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endParaRPr>
            </a:p>
          </p:txBody>
        </p:sp>
      </p:grpSp>
      <p:pic>
        <p:nvPicPr>
          <p:cNvPr descr="image.png" id="331" name="Google Shape;33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7478" y="2240422"/>
            <a:ext cx="238125" cy="23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2"/>
          <p:cNvSpPr/>
          <p:nvPr/>
        </p:nvSpPr>
        <p:spPr>
          <a:xfrm>
            <a:off x="1524000" y="3043223"/>
            <a:ext cx="2844900" cy="1522500"/>
          </a:xfrm>
          <a:prstGeom prst="roundRect">
            <a:avLst>
              <a:gd fmla="val 895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2"/>
          <p:cNvSpPr/>
          <p:nvPr/>
        </p:nvSpPr>
        <p:spPr>
          <a:xfrm>
            <a:off x="4673650" y="3043223"/>
            <a:ext cx="2844900" cy="1522500"/>
          </a:xfrm>
          <a:prstGeom prst="roundRect">
            <a:avLst>
              <a:gd fmla="val 895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2"/>
          <p:cNvSpPr/>
          <p:nvPr/>
        </p:nvSpPr>
        <p:spPr>
          <a:xfrm>
            <a:off x="7823300" y="3043223"/>
            <a:ext cx="2844900" cy="1522500"/>
          </a:xfrm>
          <a:prstGeom prst="roundRect">
            <a:avLst>
              <a:gd fmla="val 895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2"/>
          <p:cNvSpPr txBox="1"/>
          <p:nvPr/>
        </p:nvSpPr>
        <p:spPr>
          <a:xfrm>
            <a:off x="5345906" y="1919287"/>
            <a:ext cx="150018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284C7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</a:t>
            </a:r>
            <a:endParaRPr/>
          </a:p>
        </p:txBody>
      </p:sp>
      <p:sp>
        <p:nvSpPr>
          <p:cNvPr id="340" name="Google Shape;340;p12"/>
          <p:cNvSpPr txBox="1"/>
          <p:nvPr/>
        </p:nvSpPr>
        <p:spPr>
          <a:xfrm>
            <a:off x="1745456" y="2205037"/>
            <a:ext cx="8701087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Resumen del Impacto de Jenkins</a:t>
            </a:r>
            <a:endParaRPr/>
          </a:p>
        </p:txBody>
      </p:sp>
      <p:sp>
        <p:nvSpPr>
          <p:cNvPr id="341" name="Google Shape;341;p12"/>
          <p:cNvSpPr txBox="1"/>
          <p:nvPr/>
        </p:nvSpPr>
        <p:spPr>
          <a:xfrm>
            <a:off x="3345656" y="4870537"/>
            <a:ext cx="5500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¿Preguntas o comentarios sobre el Laboratorio?</a:t>
            </a:r>
            <a:endParaRPr/>
          </a:p>
        </p:txBody>
      </p:sp>
      <p:sp>
        <p:nvSpPr>
          <p:cNvPr id="342" name="Google Shape;342;p12"/>
          <p:cNvSpPr txBox="1"/>
          <p:nvPr/>
        </p:nvSpPr>
        <p:spPr>
          <a:xfrm>
            <a:off x="1752600" y="3271837"/>
            <a:ext cx="2482899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automatiza?</a:t>
            </a:r>
            <a:endParaRPr/>
          </a:p>
        </p:txBody>
      </p:sp>
      <p:sp>
        <p:nvSpPr>
          <p:cNvPr id="343" name="Google Shape;343;p12"/>
          <p:cNvSpPr txBox="1"/>
          <p:nvPr/>
        </p:nvSpPr>
        <p:spPr>
          <a:xfrm>
            <a:off x="4902249" y="3271837"/>
            <a:ext cx="2482899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¿Qué reemplaza?</a:t>
            </a:r>
            <a:endParaRPr/>
          </a:p>
        </p:txBody>
      </p:sp>
      <p:sp>
        <p:nvSpPr>
          <p:cNvPr id="344" name="Google Shape;344;p12"/>
          <p:cNvSpPr txBox="1"/>
          <p:nvPr/>
        </p:nvSpPr>
        <p:spPr>
          <a:xfrm>
            <a:off x="8051899" y="3271837"/>
            <a:ext cx="2482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¿Cómo se integra en CD real? </a:t>
            </a:r>
            <a:endParaRPr/>
          </a:p>
        </p:txBody>
      </p:sp>
      <p:sp>
        <p:nvSpPr>
          <p:cNvPr id="345" name="Google Shape;345;p12"/>
          <p:cNvSpPr txBox="1"/>
          <p:nvPr/>
        </p:nvSpPr>
        <p:spPr>
          <a:xfrm>
            <a:off x="1752600" y="3548062"/>
            <a:ext cx="2482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 secuencia completa e ininterrumpida de compilación (build), pruebas (test) y entrega de artefactos (deploy).</a:t>
            </a:r>
            <a:endParaRPr/>
          </a:p>
        </p:txBody>
      </p:sp>
      <p:sp>
        <p:nvSpPr>
          <p:cNvPr id="346" name="Google Shape;346;p12"/>
          <p:cNvSpPr txBox="1"/>
          <p:nvPr/>
        </p:nvSpPr>
        <p:spPr>
          <a:xfrm>
            <a:off x="4902249" y="3548062"/>
            <a:ext cx="24828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Comandos manuales en terminal, transferencias de archivos por SSH y guías/checklists propensas a errores humanos.</a:t>
            </a:r>
            <a:endParaRPr/>
          </a:p>
        </p:txBody>
      </p:sp>
      <p:sp>
        <p:nvSpPr>
          <p:cNvPr id="347" name="Google Shape;347;p12"/>
          <p:cNvSpPr txBox="1"/>
          <p:nvPr/>
        </p:nvSpPr>
        <p:spPr>
          <a:xfrm>
            <a:off x="8051899" y="3548062"/>
            <a:ext cx="24828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Recibe Webhooks desde Git, asigna agentes efímeros en Docker/K8s, ejecuta pruebas y despliega automáticamente en la nube si todo aprueba.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